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kar, Gaurav Sanjay (Cognizant)" userId="ff69ddf3-27ad-4e40-b3b0-4c33fc0771d2" providerId="ADAL" clId="{8193255F-91F1-4A8D-B705-9388F20CE2EB}"/>
    <pc:docChg chg="modSld">
      <pc:chgData name="Katkar, Gaurav Sanjay (Cognizant)" userId="ff69ddf3-27ad-4e40-b3b0-4c33fc0771d2" providerId="ADAL" clId="{8193255F-91F1-4A8D-B705-9388F20CE2EB}" dt="2026-04-23T19:41:16.799" v="2" actId="20577"/>
      <pc:docMkLst>
        <pc:docMk/>
      </pc:docMkLst>
      <pc:sldChg chg="modSp mod">
        <pc:chgData name="Katkar, Gaurav Sanjay (Cognizant)" userId="ff69ddf3-27ad-4e40-b3b0-4c33fc0771d2" providerId="ADAL" clId="{8193255F-91F1-4A8D-B705-9388F20CE2EB}" dt="2026-04-23T19:41:16.799" v="2" actId="20577"/>
        <pc:sldMkLst>
          <pc:docMk/>
          <pc:sldMk cId="0" sldId="261"/>
        </pc:sldMkLst>
        <pc:spChg chg="mod">
          <ac:chgData name="Katkar, Gaurav Sanjay (Cognizant)" userId="ff69ddf3-27ad-4e40-b3b0-4c33fc0771d2" providerId="ADAL" clId="{8193255F-91F1-4A8D-B705-9388F20CE2EB}" dt="2026-04-23T19:41:16.799" v="2" actId="20577"/>
          <ac:spMkLst>
            <pc:docMk/>
            <pc:sldMk cId="0" sldId="261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3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8B0B-29B4-AE77-5385-A173FE68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BE37F-9FD5-6FC8-B532-C67FC0162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43BA2-4B20-9E4E-7916-7A4A5E0F5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E809B-05ED-0825-50AF-039AA5C92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41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A173D-775C-455B-777E-2FD8E7BC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720A1-4B35-CA2E-BAE7-1D9B17CE8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A7268-5399-E1BA-6494-6B774090B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52EF2-B150-EF2B-0D41-DDD5D2212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7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2926080" cy="2926080"/>
          </a:xfrm>
          <a:prstGeom prst="ellipse">
            <a:avLst/>
          </a:prstGeom>
          <a:solidFill>
            <a:srgbClr val="00C9A7">
              <a:alpha val="9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73736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060704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Resume Screening</a:t>
            </a:r>
            <a:endParaRPr lang="en-US" sz="1550" dirty="0"/>
          </a:p>
          <a:p>
            <a:pPr marL="0" indent="0">
              <a:buNone/>
            </a:pPr>
            <a:r>
              <a:rPr lang="en-US" sz="15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Candidate Ranking Platform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3657600" cy="27432"/>
          </a:xfrm>
          <a:prstGeom prst="rect">
            <a:avLst/>
          </a:prstGeom>
          <a:solidFill>
            <a:srgbClr val="9BB5CC">
              <a:alpha val="55000"/>
            </a:srgbClr>
          </a:solidFill>
          <a:ln w="12700">
            <a:solidFill>
              <a:srgbClr val="9BB5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30723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ADM26CCP001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Yerramala Prathima ·  P Yuva Sri  ·  Gaurav Katkar  ·  Saurabh Jagtap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71246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Members  |  C++98  |  Console-Based Application  |  OOP Design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932688"/>
            <a:ext cx="2926080" cy="749808"/>
          </a:xfrm>
          <a:prstGeom prst="rect">
            <a:avLst/>
          </a:prstGeom>
          <a:solidFill>
            <a:srgbClr val="1E3A54"/>
          </a:solidFill>
          <a:ln w="12700">
            <a:solidFill>
              <a:srgbClr val="F4A42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932688"/>
            <a:ext cx="54864" cy="749808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106424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20256" y="9875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C++98 Standard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0256" y="128016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35040" y="1892808"/>
            <a:ext cx="2926080" cy="749808"/>
          </a:xfrm>
          <a:prstGeom prst="rect">
            <a:avLst/>
          </a:prstGeom>
          <a:solidFill>
            <a:srgbClr val="1E3A54"/>
          </a:solidFill>
          <a:ln w="12700">
            <a:solidFill>
              <a:srgbClr val="7B8CD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035040" y="1892808"/>
            <a:ext cx="54864" cy="74980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066544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20256" y="19476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620256" y="22402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· Polymorphism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035040" y="2852928"/>
            <a:ext cx="2926080" cy="749808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035040" y="2852928"/>
            <a:ext cx="54864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3026664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20256" y="29077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620256" y="320040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· set · map · queue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035040" y="3813048"/>
            <a:ext cx="2926080" cy="749808"/>
          </a:xfrm>
          <a:prstGeom prst="rect">
            <a:avLst/>
          </a:prstGeom>
          <a:solidFill>
            <a:srgbClr val="1E3A54"/>
          </a:solidFill>
          <a:ln w="12700">
            <a:solidFill>
              <a:srgbClr val="E07A5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6035040" y="3813048"/>
            <a:ext cx="54864" cy="74980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98678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20256" y="38679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620256" y="416052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Binary · Audit Logs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TalentForge Was Built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firms receive thousands of resumes monthly. Manual screening is broken: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1554480" cy="1737360"/>
          </a:xfrm>
          <a:prstGeom prst="rect">
            <a:avLst/>
          </a:prstGeom>
          <a:solidFill>
            <a:srgbClr val="112236"/>
          </a:solidFill>
          <a:ln w="12700">
            <a:solidFill>
              <a:srgbClr val="E07A5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15544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59105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2336" y="21396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 hrs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2336" y="24505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job role — manually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57400" y="1417320"/>
            <a:ext cx="1554480" cy="1737360"/>
          </a:xfrm>
          <a:prstGeom prst="rect">
            <a:avLst/>
          </a:prstGeom>
          <a:solidFill>
            <a:srgbClr val="112236"/>
          </a:solidFill>
          <a:ln w="12700">
            <a:solidFill>
              <a:srgbClr val="F4A42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57400" y="1417320"/>
            <a:ext cx="1554480" cy="54864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59105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12264" y="21396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112264" y="24505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767328" y="1417320"/>
            <a:ext cx="1554480" cy="1737360"/>
          </a:xfrm>
          <a:prstGeom prst="rect">
            <a:avLst/>
          </a:prstGeom>
          <a:solidFill>
            <a:srgbClr val="112236"/>
          </a:solidFill>
          <a:ln w="12700">
            <a:solidFill>
              <a:srgbClr val="7B8CD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767328" y="1417320"/>
            <a:ext cx="1554480" cy="54864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59105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22192" y="21396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DB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822192" y="24505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candidate data store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477256" y="1417320"/>
            <a:ext cx="1554480" cy="173736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477256" y="141732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591056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21396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532120" y="24505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compliance trail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187184" y="1417320"/>
            <a:ext cx="1554480" cy="1737360"/>
          </a:xfrm>
          <a:prstGeom prst="rect">
            <a:avLst/>
          </a:prstGeom>
          <a:solidFill>
            <a:srgbClr val="112236"/>
          </a:solidFill>
          <a:ln w="12700">
            <a:solidFill>
              <a:srgbClr val="E07A5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7187184" y="1417320"/>
            <a:ext cx="15544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1591056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42048" y="21396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Hires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242048" y="245059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rejection rates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347472" y="3337560"/>
            <a:ext cx="8449056" cy="14630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6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47472" y="3337560"/>
            <a:ext cx="64008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53035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30352" y="373075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screening by introducing an automated, data-driven ranking system using core C++ concepts — delivering objective, bias-free shortlists in minutes, not hours.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Modules via ScreeningManager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54480" cy="2743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55448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5727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4904" y="208483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" y="26517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parseResumeFile()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skills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resumes/*.txt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874520" y="228600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29968" y="1051560"/>
            <a:ext cx="1554480" cy="2743200"/>
          </a:xfrm>
          <a:prstGeom prst="rect">
            <a:avLst/>
          </a:prstGeom>
          <a:solidFill>
            <a:srgbClr val="112236"/>
          </a:solidFill>
          <a:ln w="12700">
            <a:solidFill>
              <a:srgbClr val="F4A42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029968" y="1051560"/>
            <a:ext cx="1554480" cy="402336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029968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5727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4832" y="208483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84832" y="26517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map&lt;string,int&gt;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requiredSkills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sum = 100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584448" y="228600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739896" y="1051560"/>
            <a:ext cx="1554480" cy="2743200"/>
          </a:xfrm>
          <a:prstGeom prst="rect">
            <a:avLst/>
          </a:prstGeom>
          <a:solidFill>
            <a:srgbClr val="112236"/>
          </a:solidFill>
          <a:ln w="12700">
            <a:solidFill>
              <a:srgbClr val="E07A5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739896" y="1051560"/>
            <a:ext cx="155448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3739896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57276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94760" y="208483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794760" y="26517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calculateScore()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case-insensitive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 match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5294376" y="228600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449824" y="1051560"/>
            <a:ext cx="1554480" cy="2743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5449824" y="1051560"/>
            <a:ext cx="155448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5449824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572768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04688" y="208483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504688" y="26517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priority_queue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ScoreComparator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top-N extract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7004304" y="228600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159752" y="1051560"/>
            <a:ext cx="1554480" cy="2743200"/>
          </a:xfrm>
          <a:prstGeom prst="rect">
            <a:avLst/>
          </a:prstGeom>
          <a:solidFill>
            <a:srgbClr val="112236"/>
          </a:solidFill>
          <a:ln w="12700">
            <a:solidFill>
              <a:srgbClr val="7B8CDE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7159752" y="1051560"/>
            <a:ext cx="1554480" cy="402336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7159752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572768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14616" y="208483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214616" y="26517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screening_results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shortlist.log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backup.dat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320040" y="3950208"/>
            <a:ext cx="8503920" cy="841248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502920" y="40416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ScreeningManager</a:t>
            </a: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Facade class orchestrating all modules via a 10-option menu-driven console. Clean separation of concerns. Zero coupling between modules.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014F-79BC-7547-48D9-DE1FEB69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B9165F-DC5B-5AED-CEA2-1159737A759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575041-EC1C-30AA-9763-3416B035B3BB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B54076F-3F2F-7097-F67B-039474A8BF77}"/>
              </a:ext>
            </a:extLst>
          </p:cNvPr>
          <p:cNvSpPr/>
          <p:nvPr/>
        </p:nvSpPr>
        <p:spPr>
          <a:xfrm>
            <a:off x="2926080" y="2560320"/>
            <a:ext cx="3840480" cy="384048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2B416B-D21B-9389-EE8C-117E090E769D}"/>
              </a:ext>
            </a:extLst>
          </p:cNvPr>
          <p:cNvSpPr/>
          <p:nvPr/>
        </p:nvSpPr>
        <p:spPr>
          <a:xfrm>
            <a:off x="-1005840" y="-1005840"/>
            <a:ext cx="3474720" cy="3474720"/>
          </a:xfrm>
          <a:prstGeom prst="ellipse">
            <a:avLst/>
          </a:prstGeom>
          <a:solidFill>
            <a:srgbClr val="F4A427">
              <a:alpha val="8000"/>
            </a:srgbClr>
          </a:solidFill>
          <a:ln w="12700">
            <a:solidFill>
              <a:srgbClr val="F4A42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9F4287-B42D-7D5A-0A11-583022B89745}"/>
              </a:ext>
            </a:extLst>
          </p:cNvPr>
          <p:cNvSpPr/>
          <p:nvPr/>
        </p:nvSpPr>
        <p:spPr>
          <a:xfrm>
            <a:off x="320040" y="3986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40B4B60-651D-FB47-527D-F5EF37D9F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1" y="918972"/>
            <a:ext cx="7478557" cy="4074255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8BC22B81-11F0-C902-C289-0BB7D3B47E51}"/>
              </a:ext>
            </a:extLst>
          </p:cNvPr>
          <p:cNvSpPr/>
          <p:nvPr/>
        </p:nvSpPr>
        <p:spPr>
          <a:xfrm>
            <a:off x="64008" y="0"/>
            <a:ext cx="9079992" cy="63061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algn="ctr"/>
            <a:r>
              <a:rPr lang="en-US" sz="3200" b="1" i="1" dirty="0"/>
              <a:t>USE CASE DIAGRAM</a:t>
            </a:r>
            <a:endParaRPr lang="en-IN" sz="3200" b="1" i="1" dirty="0"/>
          </a:p>
        </p:txBody>
      </p:sp>
    </p:spTree>
    <p:extLst>
      <p:ext uri="{BB962C8B-B14F-4D97-AF65-F5344CB8AC3E}">
        <p14:creationId xmlns:p14="http://schemas.microsoft.com/office/powerpoint/2010/main" val="56854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CA10-53CC-9DA8-1987-630D8E83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0D36B6-8D2E-B817-7F59-4FD649A179C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45F88B-DB00-E076-6301-C17EAA340ED1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4EC207-BBB0-6927-B815-888C4C301720}"/>
              </a:ext>
            </a:extLst>
          </p:cNvPr>
          <p:cNvSpPr/>
          <p:nvPr/>
        </p:nvSpPr>
        <p:spPr>
          <a:xfrm>
            <a:off x="2926080" y="2560320"/>
            <a:ext cx="3840480" cy="384048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6DDD2F-5AE2-EB55-A39C-8533EB353792}"/>
              </a:ext>
            </a:extLst>
          </p:cNvPr>
          <p:cNvSpPr/>
          <p:nvPr/>
        </p:nvSpPr>
        <p:spPr>
          <a:xfrm>
            <a:off x="-1005840" y="-1005840"/>
            <a:ext cx="3474720" cy="3474720"/>
          </a:xfrm>
          <a:prstGeom prst="ellipse">
            <a:avLst/>
          </a:prstGeom>
          <a:solidFill>
            <a:srgbClr val="F4A427">
              <a:alpha val="8000"/>
            </a:srgbClr>
          </a:solidFill>
          <a:ln w="12700">
            <a:solidFill>
              <a:srgbClr val="F4A42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273006-0F35-D7CE-B61C-8C1C44C6FB6C}"/>
              </a:ext>
            </a:extLst>
          </p:cNvPr>
          <p:cNvSpPr/>
          <p:nvPr/>
        </p:nvSpPr>
        <p:spPr>
          <a:xfrm>
            <a:off x="320040" y="3986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8108C3-B9BF-8A54-20C5-3CF1FE180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640080"/>
            <a:ext cx="8641080" cy="4389120"/>
          </a:xfrm>
          <a:prstGeom prst="rect">
            <a:avLst/>
          </a:prstGeom>
        </p:spPr>
      </p:pic>
      <p:sp>
        <p:nvSpPr>
          <p:cNvPr id="8" name="Shape 11">
            <a:extLst>
              <a:ext uri="{FF2B5EF4-FFF2-40B4-BE49-F238E27FC236}">
                <a16:creationId xmlns:a16="http://schemas.microsoft.com/office/drawing/2014/main" id="{ECDD9304-13D2-B689-B6AD-D33867FA5248}"/>
              </a:ext>
            </a:extLst>
          </p:cNvPr>
          <p:cNvSpPr/>
          <p:nvPr/>
        </p:nvSpPr>
        <p:spPr>
          <a:xfrm>
            <a:off x="71628" y="0"/>
            <a:ext cx="9072372" cy="52578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pPr algn="ctr"/>
            <a:r>
              <a:rPr lang="en-US" sz="3200" b="1" i="1" dirty="0"/>
              <a:t>CLASS DIAGRAM</a:t>
            </a:r>
            <a:endParaRPr lang="en-IN" sz="3200" b="1" i="1" dirty="0"/>
          </a:p>
        </p:txBody>
      </p:sp>
    </p:spTree>
    <p:extLst>
      <p:ext uri="{BB962C8B-B14F-4D97-AF65-F5344CB8AC3E}">
        <p14:creationId xmlns:p14="http://schemas.microsoft.com/office/powerpoint/2010/main" val="220714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&amp; SCORING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 &amp; Scoring Formula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31920" cy="80467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 (Abstract Base Class)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3502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22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calculateScore() = 0   |   virtual getCandidateType() = 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1810512"/>
            <a:ext cx="0" cy="256032"/>
          </a:xfrm>
          <a:prstGeom prst="line">
            <a:avLst/>
          </a:prstGeom>
          <a:noFill/>
          <a:ln w="1905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17520" y="1810512"/>
            <a:ext cx="0" cy="256032"/>
          </a:xfrm>
          <a:prstGeom prst="line">
            <a:avLst/>
          </a:prstGeom>
          <a:noFill/>
          <a:ln w="1905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88720" y="2066544"/>
            <a:ext cx="1828800" cy="0"/>
          </a:xfrm>
          <a:prstGeom prst="line">
            <a:avLst/>
          </a:prstGeom>
          <a:noFill/>
          <a:ln w="19050">
            <a:solidFill>
              <a:srgbClr val="00C9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1810512" cy="1207008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6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066544"/>
            <a:ext cx="181051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1396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ITCandidate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41401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primaryTechStack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skillMatch + expBonus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certBonus (capped 100)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12848" y="2066544"/>
            <a:ext cx="2039112" cy="1207008"/>
          </a:xfrm>
          <a:prstGeom prst="rect">
            <a:avLst/>
          </a:prstGeom>
          <a:solidFill>
            <a:srgbClr val="1E3A54"/>
          </a:solidFill>
          <a:ln w="12700">
            <a:solidFill>
              <a:srgbClr val="F4A427">
                <a:alpha val="6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12848" y="2066544"/>
            <a:ext cx="2039112" cy="54864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0" y="21396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NonITCandidate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41401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skillMatch + expBonus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domainBonus (capped 100)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969264" cy="274320"/>
          </a:xfrm>
          <a:prstGeom prst="rect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62456" y="3419856"/>
            <a:ext cx="969264" cy="274320"/>
          </a:xfrm>
          <a:prstGeom prst="rect">
            <a:avLst/>
          </a:prstGeom>
          <a:solidFill>
            <a:srgbClr val="F4A427">
              <a:alpha val="22000"/>
            </a:srgbClr>
          </a:solidFill>
          <a:ln w="12700">
            <a:solidFill>
              <a:srgbClr val="F4A42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62456" y="34198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04872" y="3419856"/>
            <a:ext cx="969264" cy="274320"/>
          </a:xfrm>
          <a:prstGeom prst="rect">
            <a:avLst/>
          </a:prstGeom>
          <a:solidFill>
            <a:srgbClr val="E07A5F">
              <a:alpha val="22000"/>
            </a:srgbClr>
          </a:solidFill>
          <a:ln w="12700">
            <a:solidFill>
              <a:srgbClr val="E07A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04872" y="34198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47288" y="3419856"/>
            <a:ext cx="969264" cy="274320"/>
          </a:xfrm>
          <a:prstGeom prst="rect">
            <a:avLst/>
          </a:prstGeom>
          <a:solidFill>
            <a:srgbClr val="7B8CDE">
              <a:alpha val="22000"/>
            </a:srgbClr>
          </a:solidFill>
          <a:ln w="12700">
            <a:solidFill>
              <a:srgbClr val="7B8CD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47288" y="34198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393192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Components: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69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vector&lt;Candidate*&gt;  ·  set&lt;string&gt;  ·  map&lt;string,int&gt;  ·  priority_queue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4425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Algorithms:  sort  ·  find_if  ·  accumulate  ·  for_each  ·  copy_if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26280" y="1005840"/>
            <a:ext cx="4297680" cy="3858768"/>
          </a:xfrm>
          <a:prstGeom prst="rect">
            <a:avLst/>
          </a:prstGeom>
          <a:solidFill>
            <a:srgbClr val="112236"/>
          </a:solidFill>
          <a:ln w="12700">
            <a:solidFill>
              <a:srgbClr val="F4A427">
                <a:alpha val="5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26280" y="1005840"/>
            <a:ext cx="4297680" cy="54864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45152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 — IT Candidate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1444752"/>
            <a:ext cx="4041648" cy="1810512"/>
          </a:xfrm>
          <a:prstGeom prst="rect">
            <a:avLst/>
          </a:prstGeom>
          <a:solidFill>
            <a:srgbClr val="0A1520"/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36592" y="150876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normalizedScore = (Σ matchedSkillWeight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36592" y="17236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/ totalWeight) × 100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19385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36592" y="21534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expBonus   = min(experienceYears × 2.0, 10.0)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23682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certBonus  = certifications.empty()?0.0:5.0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36592" y="25831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36592" y="27980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finalScore = min(normalizedScore + expBonus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36592" y="30129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+ certBonus, 100.0)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45152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09560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45152" y="3657600"/>
            <a:ext cx="4041648" cy="256032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81728" y="36576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44768" y="36576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(matched÷total)×100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909560" y="3657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45152" y="3931920"/>
            <a:ext cx="4041648" cy="25603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81728" y="39319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Bonus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44768" y="393192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min(yrs×2, 10)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909560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45152" y="4206240"/>
            <a:ext cx="4041648" cy="256032"/>
          </a:xfrm>
          <a:prstGeom prst="rect">
            <a:avLst/>
          </a:prstGeom>
          <a:solidFill>
            <a:srgbClr val="1E3A54"/>
          </a:solidFill>
          <a:ln w="12700">
            <a:solidFill>
              <a:srgbClr val="1E3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81728" y="42062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Bonus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44768" y="42062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certified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909560" y="4206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45152" y="4480560"/>
            <a:ext cx="4041648" cy="25603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681728" y="44805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44768" y="44805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capped at 100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909560" y="4480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ACADEMIC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TalentForge 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1883664" cy="1170432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A7">
                <a:alpha val="5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188366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0624" y="1737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1883664" cy="1170432"/>
          </a:xfrm>
          <a:prstGeom prst="rect">
            <a:avLst/>
          </a:prstGeom>
          <a:solidFill>
            <a:srgbClr val="112236"/>
          </a:solidFill>
          <a:ln w="12700">
            <a:solidFill>
              <a:srgbClr val="F4A427">
                <a:alpha val="5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883664" cy="54864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111556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23744" y="1737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Processed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53712" y="1005840"/>
            <a:ext cx="1883664" cy="1170432"/>
          </a:xfrm>
          <a:prstGeom prst="rect">
            <a:avLst/>
          </a:prstGeom>
          <a:solidFill>
            <a:srgbClr val="112236"/>
          </a:solidFill>
          <a:ln w="12700">
            <a:solidFill>
              <a:srgbClr val="E07A5F">
                <a:alpha val="5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53712" y="1005840"/>
            <a:ext cx="1883664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53712" y="111556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Eliminated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56832" y="1005840"/>
            <a:ext cx="1883664" cy="1170432"/>
          </a:xfrm>
          <a:prstGeom prst="rect">
            <a:avLst/>
          </a:prstGeom>
          <a:solidFill>
            <a:srgbClr val="112236"/>
          </a:solidFill>
          <a:ln w="12700">
            <a:solidFill>
              <a:srgbClr val="7B8CDE">
                <a:alpha val="5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56832" y="1005840"/>
            <a:ext cx="1883664" cy="54864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56832" y="1115568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29984" y="1737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359152"/>
            <a:ext cx="3986784" cy="1115568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54864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670048"/>
            <a:ext cx="420624" cy="42062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42416" y="2450592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42416" y="276148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priority_queue enables instant top-N shortlisting with O(log n) operations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90288" y="2359152"/>
            <a:ext cx="3986784" cy="1115568"/>
          </a:xfrm>
          <a:prstGeom prst="rect">
            <a:avLst/>
          </a:prstGeom>
          <a:solidFill>
            <a:srgbClr val="1E3A54"/>
          </a:solidFill>
          <a:ln w="12700">
            <a:solidFill>
              <a:srgbClr val="F4A427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590288" y="2359152"/>
            <a:ext cx="54864" cy="1115568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70048"/>
            <a:ext cx="420624" cy="42062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85232" y="2450592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285232" y="276148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types added via inheritance — zero refactoring of existing code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47472" y="3639312"/>
            <a:ext cx="3986784" cy="1115568"/>
          </a:xfrm>
          <a:prstGeom prst="rect">
            <a:avLst/>
          </a:prstGeom>
          <a:solidFill>
            <a:srgbClr val="1E3A54"/>
          </a:solidFill>
          <a:ln w="12700">
            <a:solidFill>
              <a:srgbClr val="E07A5F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347472" y="3639312"/>
            <a:ext cx="54864" cy="11155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950208"/>
            <a:ext cx="420624" cy="42062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042416" y="3730752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1042416" y="404164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shortlist.log with timestamps ensures full compliance traceability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590288" y="3639312"/>
            <a:ext cx="3986784" cy="1115568"/>
          </a:xfrm>
          <a:prstGeom prst="rect">
            <a:avLst/>
          </a:prstGeom>
          <a:solidFill>
            <a:srgbClr val="1E3A54"/>
          </a:solidFill>
          <a:ln w="12700">
            <a:solidFill>
              <a:srgbClr val="7B8CDE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4590288" y="3639312"/>
            <a:ext cx="54864" cy="111556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950208"/>
            <a:ext cx="420624" cy="42062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285232" y="3730752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Academically Strong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5285232" y="404164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C++98 mastery: OOPS, STL, File Handling, and Exception Handling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926080" y="2560320"/>
            <a:ext cx="3840480" cy="384048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1005840" y="-1005840"/>
            <a:ext cx="3474720" cy="3474720"/>
          </a:xfrm>
          <a:prstGeom prst="ellipse">
            <a:avLst/>
          </a:prstGeom>
          <a:solidFill>
            <a:srgbClr val="F4A427">
              <a:alpha val="8000"/>
            </a:srgbClr>
          </a:solidFill>
          <a:ln w="12700">
            <a:solidFill>
              <a:srgbClr val="F4A42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7782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Software Engineering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3291840" cy="36576"/>
          </a:xfrm>
          <a:prstGeom prst="rect">
            <a:avLst/>
          </a:prstGeom>
          <a:solidFill>
            <a:srgbClr val="9BB5CC">
              <a:alpha val="48000"/>
            </a:srgbClr>
          </a:solidFill>
          <a:ln w="12700">
            <a:solidFill>
              <a:srgbClr val="9BB5CC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 bridges academic theory and real-world engineering using pure C++98 — showcasing clean architecture, advanced STL, robust OOP design, and complete file handling to solve a large-scale business problem.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ADM26CCP001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660" y="1463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HR Technology &amp; Recruitment Automation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986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502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1005840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0972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79008" y="107899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5,000+ resumes efficiently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1673352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6479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79008" y="17465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eliminates human bias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212080" y="2340864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43230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779008" y="2414016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compliance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12080" y="3008376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09981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79008" y="3081528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OOP inheritance hierarchy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212080" y="3675888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00C9A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76732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779008" y="3749040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C++98 — zero external dependencies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212080" y="4343400"/>
            <a:ext cx="3657600" cy="548640"/>
          </a:xfrm>
          <a:prstGeom prst="rect">
            <a:avLst/>
          </a:prstGeom>
          <a:solidFill>
            <a:srgbClr val="1E3A54"/>
          </a:solidFill>
          <a:ln w="12700">
            <a:solidFill>
              <a:srgbClr val="F4A427">
                <a:alpha val="3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4348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79008" y="441655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</a:t>
            </a:r>
            <a:r>
              <a:rPr lang="en-US" sz="100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596</Words>
  <Application>Microsoft Office PowerPoint</Application>
  <PresentationFormat>On-screen Show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TalentForge</dc:title>
  <dc:subject>PptxGenJS Presentation</dc:subject>
  <dc:creator>PptxGenJS</dc:creator>
  <cp:lastModifiedBy>Katkar, Gaurav Sanjay (Cognizant)</cp:lastModifiedBy>
  <cp:revision>4</cp:revision>
  <dcterms:created xsi:type="dcterms:W3CDTF">2026-04-20T01:40:11Z</dcterms:created>
  <dcterms:modified xsi:type="dcterms:W3CDTF">2026-04-23T19:41:18Z</dcterms:modified>
</cp:coreProperties>
</file>